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Markdown in referenced conversation "技術面を深掘り"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Markdown in referenced conversation "技術面を深掘り"</a:t>
            </a:r>
          </a:p>
          <a:p>
            <a:r>
              <a:t>[/Sources]</a:t>
            </a:r>
          </a:p>
          <a:p>
            <a:endParaRPr/>
          </a:p>
          <a:p>
            <a:r>
              <a:t>注: 実行時性能やテスト結果は、この資料の元Markdownでは確認していません。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Markdown in referenced conversation "技術面を深掘り"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Markdown in referenced conversation "技術面を深掘り"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Markdown in referenced conversation "技術面を深掘り"</a:t>
            </a:r>
          </a:p>
          <a:p>
            <a:r>
              <a:t>[/Sources]</a:t>
            </a:r>
          </a:p>
          <a:p>
            <a:endParaRPr/>
          </a:p>
          <a:p>
            <a:r>
              <a:t>注: 各設備が実際にどの組み合わせを採用するかは、元Markdownでは列挙されていません。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Markdown in referenced conversation "技術面を深掘り"</a:t>
            </a:r>
          </a:p>
          <a:p>
            <a:r>
              <a:t>[/Sources]</a:t>
            </a:r>
          </a:p>
          <a:p>
            <a:endParaRPr/>
          </a:p>
          <a:p>
            <a:r>
              <a:t>注: dispatch中のDisconnectなど境界条件の動作は、この資料では確認していません。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Markdown in referenced conversation "技術面を深掘り"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Markdown in referenced conversation "技術面を深掘り"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Markdown in referenced conversation "技術面を深掘り"</a:t>
            </a:r>
          </a:p>
          <a:p>
            <a:r>
              <a:t>[/Sources]</a:t>
            </a:r>
          </a:p>
          <a:p>
            <a:endParaRPr/>
          </a:p>
          <a:p>
            <a:r>
              <a:t>注: 補間係数やフレームレート非依存性は元Markdownでは確認していません。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Markdown in referenced conversation "技術面を深掘り"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Markdown in referenced conversation "技術面を深掘り"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CBD86D7-4E49-4277-8500-3E3A06E67331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26SummerGame / てのひらファクトリー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5119F7B-1403-4CAC-A299-C4B236515629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7239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4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ゲームを支える</a:t>
            </a:r>
          </a:p>
          <a:p>
            <a:pPr algn="l">
              <a:buNone/>
              <a:defRPr sz="4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技術設計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EFEDFF6-6F53-4FCE-8F00-3096DC1B25BA}"/>
              </a:ext>
            </a:extLst>
          </p:cNvPr>
          <p:cNvSpPr>
            <a:spLocks noGrp="1"/>
          </p:cNvSpPr>
          <p:nvPr/>
        </p:nvSpPr>
        <p:spPr>
          <a:xfrm>
            <a:off x="419100" y="385762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Object–Component / Lifetime / Event / Input / UI</a:t>
            </a:r>
          </a:p>
        </p:txBody>
      </p:sp>
    </p:spTree>
    <p:extLst>
      <p:ext uri="{BB962C8B-B14F-4D97-AF65-F5344CB8AC3E}">
        <p14:creationId xmlns:p14="http://schemas.microsoft.com/office/powerpoint/2010/main" val="926647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28D09E1-0446-4430-BF09-F6FF1F34E576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全体像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B50DD00-DDB3-484A-B352-38E9AB53B4F4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描画ライブラリの上に、ゲーム基盤を積み上げた</a:t>
            </a:r>
          </a:p>
        </p:txBody>
      </p:sp>
      <p:sp>
        <p:nvSpPr>
          <p:cNvPr id="3" name="直線コネクタ 2">
            <a:extLst>
              <a:ext uri="{FF2B5EF4-FFF2-40B4-BE49-F238E27FC236}">
                <a16:creationId xmlns:a16="http://schemas.microsoft.com/office/drawing/2014/main" id="{29D7DBA6-3F1F-478D-9B6A-C7451D84B73D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5E7E22E-501C-4DC0-AA7A-9BC291543DC3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7802E10-369A-41A9-9AB0-019836CEB4B8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990600"/>
          </a:xfrm>
          <a:prstGeom prst="rect">
            <a:avLst/>
          </a:prstGeom>
          <a:solidFill>
            <a:srgbClr val="17233A"/>
          </a:solidFill>
          <a:ln w="9525">
            <a:solidFill>
              <a:srgbClr val="1723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02CF7A5-E437-4F5B-BEBF-8426C2C34FDB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Gameplay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32C808D-BD1E-4CE8-BC97-4CE6E1ABF85E}"/>
              </a:ext>
            </a:extLst>
          </p:cNvPr>
          <p:cNvSpPr>
            <a:spLocks noGrp="1"/>
          </p:cNvSpPr>
          <p:nvPr/>
        </p:nvSpPr>
        <p:spPr>
          <a:xfrm>
            <a:off x="3143250" y="1952625"/>
            <a:ext cx="762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工業設備  /  製造  /  燃料  /  搬送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5203A3F-1587-4CC9-9E51-88BE89E7316F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10820400" cy="1543050"/>
          </a:xfrm>
          <a:prstGeom prst="rect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5DCF025-6A29-4C3C-B3EC-508820B2C7F5}"/>
              </a:ext>
            </a:extLst>
          </p:cNvPr>
          <p:cNvSpPr>
            <a:spLocks noGrp="1"/>
          </p:cNvSpPr>
          <p:nvPr/>
        </p:nvSpPr>
        <p:spPr>
          <a:xfrm>
            <a:off x="933450" y="31337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Runtime foundation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1992EB3-276A-4793-A392-68F45D03DF4E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7233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33A"/>
                </a:solidFill>
                <a:latin typeface="Yu Gothic"/>
                <a:ea typeface="Yu Gothic"/>
                <a:cs typeface="Yu Gothic"/>
              </a:rPr>
              <a:t>Object–Component   Event   Input   UI   Camera   GameResource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FD132A1-AB3E-4578-A4B6-3FCB3528BD9D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10820400" cy="8763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FD1AC4C-F54B-4CF1-A4F7-2CE5ED073787}"/>
              </a:ext>
            </a:extLst>
          </p:cNvPr>
          <p:cNvSpPr>
            <a:spLocks noGrp="1"/>
          </p:cNvSpPr>
          <p:nvPr/>
        </p:nvSpPr>
        <p:spPr>
          <a:xfrm>
            <a:off x="933450" y="49053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DxLib / Windows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00950C2-0F17-4EA9-81B4-FFC66EA7A179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主眼はゲーム機能だけでなく、機能を成立させる基盤設計</a:t>
            </a:r>
          </a:p>
        </p:txBody>
      </p:sp>
    </p:spTree>
    <p:extLst>
      <p:ext uri="{BB962C8B-B14F-4D97-AF65-F5344CB8AC3E}">
        <p14:creationId xmlns:p14="http://schemas.microsoft.com/office/powerpoint/2010/main" val="2051620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D04E6B0-F4F2-436A-8909-0816D215C76C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OBJECT–COMPONENT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994F68-DE1C-4675-8B76-173A51AE26E0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所有と参照を型で分け、寿命関係を明確にする</a:t>
            </a:r>
          </a:p>
        </p:txBody>
      </p:sp>
      <p:sp>
        <p:nvSpPr>
          <p:cNvPr id="3" name="直線コネクタ 2">
            <a:extLst>
              <a:ext uri="{FF2B5EF4-FFF2-40B4-BE49-F238E27FC236}">
                <a16:creationId xmlns:a16="http://schemas.microsoft.com/office/drawing/2014/main" id="{D41DFE9F-80AD-4C8B-BFDB-4DCF2C554DDB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D18B9AE-9BA6-457B-8172-2E81D4D7CF8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637157F-3D33-4EC3-80F8-91AF3A58A24A}"/>
              </a:ext>
            </a:extLst>
          </p:cNvPr>
          <p:cNvSpPr>
            <a:spLocks noGrp="1"/>
          </p:cNvSpPr>
          <p:nvPr/>
        </p:nvSpPr>
        <p:spPr>
          <a:xfrm>
            <a:off x="704850" y="2228850"/>
            <a:ext cx="2724150" cy="1143000"/>
          </a:xfrm>
          <a:prstGeom prst="roundRect">
            <a:avLst>
              <a:gd name="adj" fmla="val 10000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A9E92C-F3F7-4EBE-A112-37875E625D88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Scene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C358F9B-79E9-4336-8584-D3AD151ABDC9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shared_ptr&lt;Object&gt; を保持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984DF9A-9E99-4A74-B9B5-E5D0439EEBA5}"/>
              </a:ext>
            </a:extLst>
          </p:cNvPr>
          <p:cNvSpPr>
            <a:spLocks noGrp="1"/>
          </p:cNvSpPr>
          <p:nvPr/>
        </p:nvSpPr>
        <p:spPr>
          <a:xfrm>
            <a:off x="4705350" y="2228850"/>
            <a:ext cx="2781300" cy="1143000"/>
          </a:xfrm>
          <a:prstGeom prst="roundRect">
            <a:avLst>
              <a:gd name="adj" fmla="val 10000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0A383B8-6347-4312-87BF-399610144503}"/>
              </a:ext>
            </a:extLst>
          </p:cNvPr>
          <p:cNvSpPr>
            <a:spLocks noGrp="1"/>
          </p:cNvSpPr>
          <p:nvPr/>
        </p:nvSpPr>
        <p:spPr>
          <a:xfrm>
            <a:off x="4876800" y="237172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Object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CD87E16-5796-45A8-BFC7-CB88482A4968}"/>
              </a:ext>
            </a:extLst>
          </p:cNvPr>
          <p:cNvSpPr>
            <a:spLocks noGrp="1"/>
          </p:cNvSpPr>
          <p:nvPr/>
        </p:nvSpPr>
        <p:spPr>
          <a:xfrm>
            <a:off x="4876800" y="2724150"/>
            <a:ext cx="2438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shared_ptr&lt;Component&gt; を保持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B5B2C2D-679B-44B5-88AB-85B99EC82685}"/>
              </a:ext>
            </a:extLst>
          </p:cNvPr>
          <p:cNvSpPr>
            <a:spLocks noGrp="1"/>
          </p:cNvSpPr>
          <p:nvPr/>
        </p:nvSpPr>
        <p:spPr>
          <a:xfrm>
            <a:off x="8763000" y="2228850"/>
            <a:ext cx="27241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43CE794-D83C-4316-BCD5-6882995E4429}"/>
              </a:ext>
            </a:extLst>
          </p:cNvPr>
          <p:cNvSpPr>
            <a:spLocks noGrp="1"/>
          </p:cNvSpPr>
          <p:nvPr/>
        </p:nvSpPr>
        <p:spPr>
          <a:xfrm>
            <a:off x="8934450" y="23717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Component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30FD61A-0B1D-4F2C-AA3A-41F5C24E3F02}"/>
              </a:ext>
            </a:extLst>
          </p:cNvPr>
          <p:cNvSpPr>
            <a:spLocks noGrp="1"/>
          </p:cNvSpPr>
          <p:nvPr/>
        </p:nvSpPr>
        <p:spPr>
          <a:xfrm>
            <a:off x="8934450" y="272415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親Objectは weak_ptr</a:t>
            </a:r>
          </a:p>
        </p:txBody>
      </p:sp>
      <p:cxnSp>
        <p:nvCxnSpPr>
          <p:cNvPr id="96" name="直線矢印コネクタ 95"/>
          <p:cNvCxnSpPr>
            <a:stCxn id="5" idx="3"/>
            <a:endCxn id="8" idx="1"/>
          </p:cNvCxnSpPr>
          <p:nvPr/>
        </p:nvCxnSpPr>
        <p:spPr>
          <a:xfrm>
            <a:off x="3429000" y="2800350"/>
            <a:ext cx="12763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97" name="直線矢印コネクタ 96"/>
          <p:cNvCxnSpPr>
            <a:stCxn id="8" idx="3"/>
            <a:endCxn id="11" idx="1"/>
          </p:cNvCxnSpPr>
          <p:nvPr/>
        </p:nvCxnSpPr>
        <p:spPr>
          <a:xfrm>
            <a:off x="7486650" y="2800350"/>
            <a:ext cx="12763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  <a:tailEnd type="triangle" w="med" len="med"/>
          </a:ln>
        </p:spPr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508C989-E342-444D-B4A8-8E8A7A01FE41}"/>
              </a:ext>
            </a:extLst>
          </p:cNvPr>
          <p:cNvSpPr>
            <a:spLocks noGrp="1"/>
          </p:cNvSpPr>
          <p:nvPr/>
        </p:nvSpPr>
        <p:spPr>
          <a:xfrm>
            <a:off x="3638550" y="24479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owns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1C5250D-9C4A-4415-9470-995E2DE9DE2A}"/>
              </a:ext>
            </a:extLst>
          </p:cNvPr>
          <p:cNvSpPr>
            <a:spLocks noGrp="1"/>
          </p:cNvSpPr>
          <p:nvPr/>
        </p:nvSpPr>
        <p:spPr>
          <a:xfrm>
            <a:off x="7696200" y="24479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owns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4F57FD5-E0BC-4610-8355-CF9D287BE1B6}"/>
              </a:ext>
            </a:extLst>
          </p:cNvPr>
          <p:cNvSpPr>
            <a:spLocks noGrp="1"/>
          </p:cNvSpPr>
          <p:nvPr/>
        </p:nvSpPr>
        <p:spPr>
          <a:xfrm>
            <a:off x="2647950" y="4181475"/>
            <a:ext cx="6896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9D17525-060E-4ADE-8A08-E1ADFA7DBBB7}"/>
              </a:ext>
            </a:extLst>
          </p:cNvPr>
          <p:cNvSpPr>
            <a:spLocks noGrp="1"/>
          </p:cNvSpPr>
          <p:nvPr/>
        </p:nvSpPr>
        <p:spPr>
          <a:xfrm>
            <a:off x="2819400" y="4324350"/>
            <a:ext cx="655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逆方向の参照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78490BD-BF16-4BB2-A201-C6BF326F90F1}"/>
              </a:ext>
            </a:extLst>
          </p:cNvPr>
          <p:cNvSpPr>
            <a:spLocks noGrp="1"/>
          </p:cNvSpPr>
          <p:nvPr/>
        </p:nvSpPr>
        <p:spPr>
          <a:xfrm>
            <a:off x="2819400" y="4676775"/>
            <a:ext cx="655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Object → Scene / Component → Object は weak_ptr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20B89AD-B121-485A-A3A4-05D1F6EDA46F}"/>
              </a:ext>
            </a:extLst>
          </p:cNvPr>
          <p:cNvSpPr>
            <a:spLocks noGrp="1"/>
          </p:cNvSpPr>
          <p:nvPr/>
        </p:nvSpPr>
        <p:spPr>
          <a:xfrm>
            <a:off x="2647950" y="5276850"/>
            <a:ext cx="6896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循環参照を避け、lock()で参照先の寿命切れを確認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3A9574A-A4D5-415D-86BE-17E63710C394}"/>
              </a:ext>
            </a:extLst>
          </p:cNvPr>
          <p:cNvSpPr>
            <a:spLocks noGrp="1"/>
          </p:cNvSpPr>
          <p:nvPr/>
        </p:nvSpPr>
        <p:spPr>
          <a:xfrm>
            <a:off x="1695450" y="5905500"/>
            <a:ext cx="8801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※ weak_ptrは参照先を生存させるのではなく、失効を安全に確認するために使用</a:t>
            </a:r>
          </a:p>
        </p:txBody>
      </p:sp>
    </p:spTree>
    <p:extLst>
      <p:ext uri="{BB962C8B-B14F-4D97-AF65-F5344CB8AC3E}">
        <p14:creationId xmlns:p14="http://schemas.microsoft.com/office/powerpoint/2010/main" val="13061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DF59BD8-C094-4CBD-AF7F-F44293F1CFE5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更新ループ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5B432B1-95BC-4660-81E8-786E2DCA91B4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追加・削除を遅延し、走査中の配列を変えない</a:t>
            </a:r>
          </a:p>
        </p:txBody>
      </p:sp>
      <p:sp>
        <p:nvSpPr>
          <p:cNvPr id="3" name="直線コネクタ 2">
            <a:extLst>
              <a:ext uri="{FF2B5EF4-FFF2-40B4-BE49-F238E27FC236}">
                <a16:creationId xmlns:a16="http://schemas.microsoft.com/office/drawing/2014/main" id="{E0FF0CEC-B335-4F0E-94F8-0086CDE19651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306051-BC62-460D-8EEF-A47CE2A8504C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1C9579F-E42D-4618-8610-06D05911515A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2476500" cy="1104900"/>
          </a:xfrm>
          <a:prstGeom prst="roundRect">
            <a:avLst>
              <a:gd name="adj" fmla="val 10345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CB4B4BC-89AC-46DD-A7E6-09186D4CFF6A}"/>
              </a:ext>
            </a:extLst>
          </p:cNvPr>
          <p:cNvSpPr>
            <a:spLocks noGrp="1"/>
          </p:cNvSpPr>
          <p:nvPr/>
        </p:nvSpPr>
        <p:spPr>
          <a:xfrm>
            <a:off x="838200" y="2924175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Update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7D9B00E-B413-4C95-B879-DCF3E5AF7CA0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Object / Componentを走査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D7208C48-0837-483B-BE9C-A78A993B9B1E}"/>
              </a:ext>
            </a:extLst>
          </p:cNvPr>
          <p:cNvSpPr>
            <a:spLocks noGrp="1"/>
          </p:cNvSpPr>
          <p:nvPr/>
        </p:nvSpPr>
        <p:spPr>
          <a:xfrm>
            <a:off x="3371850" y="3162300"/>
            <a:ext cx="723900" cy="3238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2AB9035-A9FB-47D2-945A-B449CA156349}"/>
              </a:ext>
            </a:extLst>
          </p:cNvPr>
          <p:cNvSpPr>
            <a:spLocks noGrp="1"/>
          </p:cNvSpPr>
          <p:nvPr/>
        </p:nvSpPr>
        <p:spPr>
          <a:xfrm>
            <a:off x="4324350" y="2781300"/>
            <a:ext cx="24765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2E5041F-3880-48F5-91B6-57AE3C68D701}"/>
              </a:ext>
            </a:extLst>
          </p:cNvPr>
          <p:cNvSpPr>
            <a:spLocks noGrp="1"/>
          </p:cNvSpPr>
          <p:nvPr/>
        </p:nvSpPr>
        <p:spPr>
          <a:xfrm>
            <a:off x="4495800" y="2924175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変更要求を記録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FD044CB-58D7-4FA8-8D04-B2F3A565F47D}"/>
              </a:ext>
            </a:extLst>
          </p:cNvPr>
          <p:cNvSpPr>
            <a:spLocks noGrp="1"/>
          </p:cNvSpPr>
          <p:nvPr/>
        </p:nvSpPr>
        <p:spPr>
          <a:xfrm>
            <a:off x="4495800" y="32766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追加・削除は予約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B17D6C55-B35B-4DA8-82EC-447F3A5341FA}"/>
              </a:ext>
            </a:extLst>
          </p:cNvPr>
          <p:cNvSpPr>
            <a:spLocks noGrp="1"/>
          </p:cNvSpPr>
          <p:nvPr/>
        </p:nvSpPr>
        <p:spPr>
          <a:xfrm>
            <a:off x="7029450" y="3162300"/>
            <a:ext cx="723900" cy="3238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74F9BE3-5B1E-4DD9-971B-9A6579CFD479}"/>
              </a:ext>
            </a:extLst>
          </p:cNvPr>
          <p:cNvSpPr>
            <a:spLocks noGrp="1"/>
          </p:cNvSpPr>
          <p:nvPr/>
        </p:nvSpPr>
        <p:spPr>
          <a:xfrm>
            <a:off x="7981950" y="2781300"/>
            <a:ext cx="2476500" cy="1104900"/>
          </a:xfrm>
          <a:prstGeom prst="roundRect">
            <a:avLst>
              <a:gd name="adj" fmla="val 10345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5FEEC60-CB2A-4F1A-8D9B-E136CF9DCB95}"/>
              </a:ext>
            </a:extLst>
          </p:cNvPr>
          <p:cNvSpPr>
            <a:spLocks noGrp="1"/>
          </p:cNvSpPr>
          <p:nvPr/>
        </p:nvSpPr>
        <p:spPr>
          <a:xfrm>
            <a:off x="8153400" y="2924175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反映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8AA2A1F-CD8B-4016-8714-2CFC2DCAF16F}"/>
              </a:ext>
            </a:extLst>
          </p:cNvPr>
          <p:cNvSpPr>
            <a:spLocks noGrp="1"/>
          </p:cNvSpPr>
          <p:nvPr/>
        </p:nvSpPr>
        <p:spPr>
          <a:xfrm>
            <a:off x="8153400" y="32766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Update後・Draw前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283721E1-46D8-460D-907B-E9FC397D1248}"/>
              </a:ext>
            </a:extLst>
          </p:cNvPr>
          <p:cNvSpPr>
            <a:spLocks noGrp="1"/>
          </p:cNvSpPr>
          <p:nvPr/>
        </p:nvSpPr>
        <p:spPr>
          <a:xfrm>
            <a:off x="10687050" y="3162300"/>
            <a:ext cx="495300" cy="323850"/>
          </a:xfrm>
          <a:prstGeom prst="rightArrow">
            <a:avLst/>
          </a:prstGeom>
          <a:solidFill>
            <a:srgbClr val="17233A"/>
          </a:solidFill>
          <a:ln w="0">
            <a:solidFill>
              <a:srgbClr val="1723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39BCEFC-AF6C-4551-A428-48F3466A1F6D}"/>
              </a:ext>
            </a:extLst>
          </p:cNvPr>
          <p:cNvSpPr>
            <a:spLocks noGrp="1"/>
          </p:cNvSpPr>
          <p:nvPr/>
        </p:nvSpPr>
        <p:spPr>
          <a:xfrm>
            <a:off x="11125200" y="3190875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Draw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FB5D993-0B49-47B3-9521-18B77A082384}"/>
              </a:ext>
            </a:extLst>
          </p:cNvPr>
          <p:cNvSpPr>
            <a:spLocks noGrp="1"/>
          </p:cNvSpPr>
          <p:nvPr/>
        </p:nvSpPr>
        <p:spPr>
          <a:xfrm>
            <a:off x="1828800" y="4724400"/>
            <a:ext cx="8534400" cy="800100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1547388-7D70-4442-ACD4-DC6149F001D1}"/>
              </a:ext>
            </a:extLst>
          </p:cNvPr>
          <p:cNvSpPr>
            <a:spLocks noGrp="1"/>
          </p:cNvSpPr>
          <p:nvPr/>
        </p:nvSpPr>
        <p:spPr>
          <a:xfrm>
            <a:off x="2095500" y="4933950"/>
            <a:ext cx="800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狙い：std::vectorの再配置、イテレータ・参照の無効化を避ける</a:t>
            </a:r>
          </a:p>
        </p:txBody>
      </p:sp>
    </p:spTree>
    <p:extLst>
      <p:ext uri="{BB962C8B-B14F-4D97-AF65-F5344CB8AC3E}">
        <p14:creationId xmlns:p14="http://schemas.microsoft.com/office/powerpoint/2010/main" val="135057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F1A664B-5B8C-49EE-BD7E-ECDC6187240C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工業オブジェクト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2A4969-43FF-4040-A119-D4B9AF91C4E0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設備を“種類”ではなく“能力の組み合わせ”で構成する</a:t>
            </a:r>
          </a:p>
        </p:txBody>
      </p:sp>
      <p:sp>
        <p:nvSpPr>
          <p:cNvPr id="3" name="直線コネクタ 2">
            <a:extLst>
              <a:ext uri="{FF2B5EF4-FFF2-40B4-BE49-F238E27FC236}">
                <a16:creationId xmlns:a16="http://schemas.microsoft.com/office/drawing/2014/main" id="{C48079AE-0D92-4B04-B8E0-D5B2FDCB1F57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4DA77C6-E955-4BCA-9309-D0B09316B0D3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6A3D463-19BF-4DBE-AB18-5E885432C674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2724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3A7ADCD-B860-4CFE-919A-B93F7B46B294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TransportSystem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6386852-5411-4CAC-90CC-B2F188A65207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アイテム搬送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EF935FD-3DAE-43E1-8E56-0BC80F29BEF1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2724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D4F0739-DD18-4F5A-AEA5-604DA2924FA2}"/>
              </a:ext>
            </a:extLst>
          </p:cNvPr>
          <p:cNvSpPr>
            <a:spLocks noGrp="1"/>
          </p:cNvSpPr>
          <p:nvPr/>
        </p:nvSpPr>
        <p:spPr>
          <a:xfrm>
            <a:off x="952500" y="34956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ManufacturingSystem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DBFD74C-F14F-43FC-9959-B201616DD9EB}"/>
              </a:ext>
            </a:extLst>
          </p:cNvPr>
          <p:cNvSpPr>
            <a:spLocks noGrp="1"/>
          </p:cNvSpPr>
          <p:nvPr/>
        </p:nvSpPr>
        <p:spPr>
          <a:xfrm>
            <a:off x="952500" y="38481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素材消費・製造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9FF168C-E11D-4158-842B-5B00283185F2}"/>
              </a:ext>
            </a:extLst>
          </p:cNvPr>
          <p:cNvSpPr>
            <a:spLocks noGrp="1"/>
          </p:cNvSpPr>
          <p:nvPr/>
        </p:nvSpPr>
        <p:spPr>
          <a:xfrm>
            <a:off x="781050" y="4610100"/>
            <a:ext cx="2724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4B031FE-7730-4720-8BBD-DB35E2A292F9}"/>
              </a:ext>
            </a:extLst>
          </p:cNvPr>
          <p:cNvSpPr>
            <a:spLocks noGrp="1"/>
          </p:cNvSpPr>
          <p:nvPr/>
        </p:nvSpPr>
        <p:spPr>
          <a:xfrm>
            <a:off x="952500" y="47529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FuelSystem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F3EDA73-9C7F-494A-9A3E-FE4263CE3A68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燃料の保持・消費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672152F-29EE-4873-BA41-1E63E75DDED7}"/>
              </a:ext>
            </a:extLst>
          </p:cNvPr>
          <p:cNvSpPr>
            <a:spLocks noGrp="1"/>
          </p:cNvSpPr>
          <p:nvPr/>
        </p:nvSpPr>
        <p:spPr>
          <a:xfrm>
            <a:off x="7543800" y="2952750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82FC2E5-D268-49B1-8312-69E384B64E98}"/>
              </a:ext>
            </a:extLst>
          </p:cNvPr>
          <p:cNvSpPr>
            <a:spLocks noGrp="1"/>
          </p:cNvSpPr>
          <p:nvPr/>
        </p:nvSpPr>
        <p:spPr>
          <a:xfrm>
            <a:off x="7715250" y="3095625"/>
            <a:ext cx="335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工業設備 Object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AE5CF42-B9CF-433A-8F81-81257F750DF4}"/>
              </a:ext>
            </a:extLst>
          </p:cNvPr>
          <p:cNvSpPr>
            <a:spLocks noGrp="1"/>
          </p:cNvSpPr>
          <p:nvPr/>
        </p:nvSpPr>
        <p:spPr>
          <a:xfrm>
            <a:off x="7715250" y="3448050"/>
            <a:ext cx="335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必要なComponentを選んで構成</a:t>
            </a:r>
          </a:p>
        </p:txBody>
      </p:sp>
      <p:cxnSp>
        <p:nvCxnSpPr>
          <p:cNvPr id="113" name="コネクタ: カギ線 112"/>
          <p:cNvCxnSpPr>
            <a:stCxn id="5" idx="3"/>
            <a:endCxn id="14" idx="1"/>
          </p:cNvCxnSpPr>
          <p:nvPr/>
        </p:nvCxnSpPr>
        <p:spPr>
          <a:xfrm>
            <a:off x="3505200" y="2590800"/>
            <a:ext cx="4038600" cy="1076325"/>
          </a:xfrm>
          <a:prstGeom prst="bentConnector3">
            <a:avLst>
              <a:gd name="adj1" fmla="val 50000"/>
            </a:avLst>
          </a:prstGeom>
          <a:ln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114" name="直線矢印コネクタ 113"/>
          <p:cNvCxnSpPr>
            <a:stCxn id="8" idx="3"/>
            <a:endCxn id="14" idx="1"/>
          </p:cNvCxnSpPr>
          <p:nvPr/>
        </p:nvCxnSpPr>
        <p:spPr>
          <a:xfrm flipV="1">
            <a:off x="3505200" y="3667125"/>
            <a:ext cx="4038600" cy="180975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115" name="コネクタ: カギ線 114"/>
          <p:cNvCxnSpPr>
            <a:stCxn id="11" idx="3"/>
            <a:endCxn id="14" idx="1"/>
          </p:cNvCxnSpPr>
          <p:nvPr/>
        </p:nvCxnSpPr>
        <p:spPr>
          <a:xfrm flipV="1">
            <a:off x="3505200" y="3667125"/>
            <a:ext cx="4038600" cy="1438275"/>
          </a:xfrm>
          <a:prstGeom prst="bentConnector3">
            <a:avLst>
              <a:gd name="adj1" fmla="val 5660"/>
            </a:avLst>
          </a:prstGeom>
          <a:ln w="19050">
            <a:solidFill>
              <a:srgbClr val="3D8DFF"/>
            </a:solidFill>
            <a:prstDash val="solid"/>
            <a:tailEnd type="triangle" w="sm" len="sm"/>
          </a:ln>
        </p:spPr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52342FF-6C56-4831-B6E8-00AF6C2BD6A7}"/>
              </a:ext>
            </a:extLst>
          </p:cNvPr>
          <p:cNvSpPr>
            <a:spLocks noGrp="1"/>
          </p:cNvSpPr>
          <p:nvPr/>
        </p:nvSpPr>
        <p:spPr>
          <a:xfrm>
            <a:off x="4819650" y="5181600"/>
            <a:ext cx="641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機能を再利用し、設備クラスへの重複実装を抑える</a:t>
            </a:r>
          </a:p>
        </p:txBody>
      </p:sp>
    </p:spTree>
    <p:extLst>
      <p:ext uri="{BB962C8B-B14F-4D97-AF65-F5344CB8AC3E}">
        <p14:creationId xmlns:p14="http://schemas.microsoft.com/office/powerpoint/2010/main" val="80890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D22C991-C89A-4DE0-A88F-4E42B088378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EVENT + RAII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6BC4CA-CEA7-4A5E-81C5-9DF42133B4D7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購読の寿命をConnectionの寿命に結びつける</a:t>
            </a:r>
          </a:p>
        </p:txBody>
      </p:sp>
      <p:sp>
        <p:nvSpPr>
          <p:cNvPr id="3" name="直線コネクタ 2">
            <a:extLst>
              <a:ext uri="{FF2B5EF4-FFF2-40B4-BE49-F238E27FC236}">
                <a16:creationId xmlns:a16="http://schemas.microsoft.com/office/drawing/2014/main" id="{EF442522-E7FE-47F2-B0C4-92AAC97D751C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44F0E3-C24C-4A9C-A532-7260EBFD2B44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1B436B5A-F287-44A5-BE91-5930E1FBEB10}"/>
              </a:ext>
            </a:extLst>
          </p:cNvPr>
          <p:cNvSpPr>
            <a:spLocks noGrp="1"/>
          </p:cNvSpPr>
          <p:nvPr/>
        </p:nvSpPr>
        <p:spPr>
          <a:xfrm>
            <a:off x="2114550" y="2895600"/>
            <a:ext cx="533400" cy="2667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400E4D1-A80A-4948-9094-B96E9567AB03}"/>
              </a:ext>
            </a:extLst>
          </p:cNvPr>
          <p:cNvSpPr>
            <a:spLocks noGrp="1"/>
          </p:cNvSpPr>
          <p:nvPr/>
        </p:nvSpPr>
        <p:spPr>
          <a:xfrm>
            <a:off x="590550" y="2495550"/>
            <a:ext cx="1524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4A7DBC7-1D39-4CC2-AA5F-777B5AD01F45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8A1A9D3-F7E2-4951-BF99-52D698D0040F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425" b="1" dirty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イベントの購読</a:t>
            </a:r>
            <a:endParaRPr sz="1425" b="1" dirty="0">
              <a:solidFill>
                <a:srgbClr val="111111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045985A4-76C9-4C9E-BF28-64A6026999AF}"/>
              </a:ext>
            </a:extLst>
          </p:cNvPr>
          <p:cNvSpPr>
            <a:spLocks noGrp="1"/>
          </p:cNvSpPr>
          <p:nvPr/>
        </p:nvSpPr>
        <p:spPr>
          <a:xfrm>
            <a:off x="4362450" y="2895600"/>
            <a:ext cx="533400" cy="2667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9DBF341-7F47-4060-8E94-F5311B19CC49}"/>
              </a:ext>
            </a:extLst>
          </p:cNvPr>
          <p:cNvSpPr>
            <a:spLocks noGrp="1"/>
          </p:cNvSpPr>
          <p:nvPr/>
        </p:nvSpPr>
        <p:spPr>
          <a:xfrm>
            <a:off x="2838450" y="2495550"/>
            <a:ext cx="1524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09F252-2378-410A-9BFC-1D1085FFCBB3}"/>
              </a:ext>
            </a:extLst>
          </p:cNvPr>
          <p:cNvSpPr>
            <a:spLocks noGrp="1"/>
          </p:cNvSpPr>
          <p:nvPr/>
        </p:nvSpPr>
        <p:spPr>
          <a:xfrm>
            <a:off x="2990850" y="2647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1C83F3E-9697-4C81-B05C-BC66F3ECAF76}"/>
              </a:ext>
            </a:extLst>
          </p:cNvPr>
          <p:cNvSpPr>
            <a:spLocks noGrp="1"/>
          </p:cNvSpPr>
          <p:nvPr/>
        </p:nvSpPr>
        <p:spPr>
          <a:xfrm>
            <a:off x="2990850" y="30289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013" lnSpcReduction="10000"/>
          </a:bodyPr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Connection取得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44B0F243-25A1-46CD-B445-6AA1AE116C61}"/>
              </a:ext>
            </a:extLst>
          </p:cNvPr>
          <p:cNvSpPr>
            <a:spLocks noGrp="1"/>
          </p:cNvSpPr>
          <p:nvPr/>
        </p:nvSpPr>
        <p:spPr>
          <a:xfrm>
            <a:off x="6610350" y="2895600"/>
            <a:ext cx="533400" cy="2667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038AB6F-642A-4DA6-8E48-41D72DE1A3F9}"/>
              </a:ext>
            </a:extLst>
          </p:cNvPr>
          <p:cNvSpPr>
            <a:spLocks noGrp="1"/>
          </p:cNvSpPr>
          <p:nvPr/>
        </p:nvSpPr>
        <p:spPr>
          <a:xfrm>
            <a:off x="5086350" y="2495550"/>
            <a:ext cx="1524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2E164F8-8B4A-41AA-AF2F-FAEDDFA86E24}"/>
              </a:ext>
            </a:extLst>
          </p:cNvPr>
          <p:cNvSpPr>
            <a:spLocks noGrp="1"/>
          </p:cNvSpPr>
          <p:nvPr/>
        </p:nvSpPr>
        <p:spPr>
          <a:xfrm>
            <a:off x="5238750" y="2647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17A76D3-ED0C-49EF-B2D0-4D4146C3F0C2}"/>
              </a:ext>
            </a:extLst>
          </p:cNvPr>
          <p:cNvSpPr>
            <a:spLocks noGrp="1"/>
          </p:cNvSpPr>
          <p:nvPr/>
        </p:nvSpPr>
        <p:spPr>
          <a:xfrm>
            <a:off x="5238750" y="30289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所有・利用</a:t>
            </a: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2BF88D53-3CDC-41F8-9A21-B02DAF8D2389}"/>
              </a:ext>
            </a:extLst>
          </p:cNvPr>
          <p:cNvSpPr>
            <a:spLocks noGrp="1"/>
          </p:cNvSpPr>
          <p:nvPr/>
        </p:nvSpPr>
        <p:spPr>
          <a:xfrm>
            <a:off x="8858250" y="2895600"/>
            <a:ext cx="533400" cy="266700"/>
          </a:xfrm>
          <a:prstGeom prst="rightArrow">
            <a:avLst/>
          </a:prstGeom>
          <a:solidFill>
            <a:srgbClr val="17233A"/>
          </a:solidFill>
          <a:ln w="0">
            <a:solidFill>
              <a:srgbClr val="1723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3D4EDD60-2F72-435F-B636-45297709677F}"/>
              </a:ext>
            </a:extLst>
          </p:cNvPr>
          <p:cNvSpPr>
            <a:spLocks noGrp="1"/>
          </p:cNvSpPr>
          <p:nvPr/>
        </p:nvSpPr>
        <p:spPr>
          <a:xfrm>
            <a:off x="7334250" y="2495550"/>
            <a:ext cx="1524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89F8116-B57C-48F0-8136-847452CDA234}"/>
              </a:ext>
            </a:extLst>
          </p:cNvPr>
          <p:cNvSpPr>
            <a:spLocks noGrp="1"/>
          </p:cNvSpPr>
          <p:nvPr/>
        </p:nvSpPr>
        <p:spPr>
          <a:xfrm>
            <a:off x="7486650" y="2647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A1F5443-F21B-4608-BC3F-8DA48A9E2D43}"/>
              </a:ext>
            </a:extLst>
          </p:cNvPr>
          <p:cNvSpPr>
            <a:spLocks noGrp="1"/>
          </p:cNvSpPr>
          <p:nvPr/>
        </p:nvSpPr>
        <p:spPr>
          <a:xfrm>
            <a:off x="7486650" y="30289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 dirty="0" err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スコープ終了</a:t>
            </a:r>
            <a:endParaRPr sz="1425" b="1" dirty="0">
              <a:solidFill>
                <a:srgbClr val="111111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E1E17833-0D9D-49DE-8146-8DAB42DFCD6E}"/>
              </a:ext>
            </a:extLst>
          </p:cNvPr>
          <p:cNvSpPr>
            <a:spLocks noGrp="1"/>
          </p:cNvSpPr>
          <p:nvPr/>
        </p:nvSpPr>
        <p:spPr>
          <a:xfrm>
            <a:off x="9582150" y="2495550"/>
            <a:ext cx="1524000" cy="1066800"/>
          </a:xfrm>
          <a:prstGeom prst="roundRect">
            <a:avLst>
              <a:gd name="adj" fmla="val 7143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DB65727-1797-47E9-9B76-24EB2EE9CABE}"/>
              </a:ext>
            </a:extLst>
          </p:cNvPr>
          <p:cNvSpPr>
            <a:spLocks noGrp="1"/>
          </p:cNvSpPr>
          <p:nvPr/>
        </p:nvSpPr>
        <p:spPr>
          <a:xfrm>
            <a:off x="9734550" y="2647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7363C19-F205-4FE2-ACAB-35B43F722739}"/>
              </a:ext>
            </a:extLst>
          </p:cNvPr>
          <p:cNvSpPr>
            <a:spLocks noGrp="1"/>
          </p:cNvSpPr>
          <p:nvPr/>
        </p:nvSpPr>
        <p:spPr>
          <a:xfrm>
            <a:off x="9734550" y="30289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434"/>
          </a:bodyPr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 dirty="0" err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自動</a:t>
            </a:r>
            <a:r>
              <a:rPr lang="ja-JP" altLang="en-US" sz="1425" b="1" dirty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解除</a:t>
            </a:r>
            <a:endParaRPr sz="1425" b="1" dirty="0">
              <a:solidFill>
                <a:srgbClr val="111111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F46DED1-86D3-4379-BB97-E3EDF3E98C5B}"/>
              </a:ext>
            </a:extLst>
          </p:cNvPr>
          <p:cNvSpPr>
            <a:spLocks noGrp="1"/>
          </p:cNvSpPr>
          <p:nvPr/>
        </p:nvSpPr>
        <p:spPr>
          <a:xfrm>
            <a:off x="1200150" y="4324350"/>
            <a:ext cx="9791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 dirty="0" err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解除忘れを減らし、破棄済みオブジェクトへの通知リスクを抑える</a:t>
            </a:r>
            <a:endParaRPr sz="2025" b="1" dirty="0">
              <a:solidFill>
                <a:srgbClr val="111111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29BEFC2-27FA-4A4C-BE25-DC0100918BB5}"/>
              </a:ext>
            </a:extLst>
          </p:cNvPr>
          <p:cNvSpPr>
            <a:spLocks noGrp="1"/>
          </p:cNvSpPr>
          <p:nvPr/>
        </p:nvSpPr>
        <p:spPr>
          <a:xfrm>
            <a:off x="2400300" y="5124450"/>
            <a:ext cx="7391400" cy="590550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BD3DE43-73C2-47C5-9A11-08CE15674A76}"/>
              </a:ext>
            </a:extLst>
          </p:cNvPr>
          <p:cNvSpPr>
            <a:spLocks noGrp="1"/>
          </p:cNvSpPr>
          <p:nvPr/>
        </p:nvSpPr>
        <p:spPr>
          <a:xfrm>
            <a:off x="2667000" y="5305425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 dirty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1イベントに複数の関数を購読可能</a:t>
            </a:r>
          </a:p>
        </p:txBody>
      </p:sp>
    </p:spTree>
    <p:extLst>
      <p:ext uri="{BB962C8B-B14F-4D97-AF65-F5344CB8AC3E}">
        <p14:creationId xmlns:p14="http://schemas.microsoft.com/office/powerpoint/2010/main" val="180844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256EDB8-B388-4BCB-9334-E57E6F600052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INPUT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0565F68-25A0-4E4E-9941-BDC01555244C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ゲームロジックはキーコードではなく“アクション”を見る</a:t>
            </a:r>
          </a:p>
        </p:txBody>
      </p:sp>
      <p:sp>
        <p:nvSpPr>
          <p:cNvPr id="3" name="直線コネクタ 2">
            <a:extLst>
              <a:ext uri="{FF2B5EF4-FFF2-40B4-BE49-F238E27FC236}">
                <a16:creationId xmlns:a16="http://schemas.microsoft.com/office/drawing/2014/main" id="{7E357799-889B-45C5-A1FB-56DEEDF75D65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47FA900-1CDE-4859-BAE2-44D04886A3E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BA860AE-972F-4477-9ED5-1CE2773CB401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6479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6AE91E4-2C76-47C6-A786-57C419CD1C59}"/>
              </a:ext>
            </a:extLst>
          </p:cNvPr>
          <p:cNvSpPr>
            <a:spLocks noGrp="1"/>
          </p:cNvSpPr>
          <p:nvPr/>
        </p:nvSpPr>
        <p:spPr>
          <a:xfrm>
            <a:off x="857250" y="2486025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物理入力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A932729-D872-4AA0-A62E-0325165C990F}"/>
              </a:ext>
            </a:extLst>
          </p:cNvPr>
          <p:cNvSpPr>
            <a:spLocks noGrp="1"/>
          </p:cNvSpPr>
          <p:nvPr/>
        </p:nvSpPr>
        <p:spPr>
          <a:xfrm>
            <a:off x="857250" y="283845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Keyboard / Gamepad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FF2A665-3D27-431F-9013-B40F23C572E3}"/>
              </a:ext>
            </a:extLst>
          </p:cNvPr>
          <p:cNvSpPr>
            <a:spLocks noGrp="1"/>
          </p:cNvSpPr>
          <p:nvPr/>
        </p:nvSpPr>
        <p:spPr>
          <a:xfrm>
            <a:off x="4762500" y="234315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43F9187-4215-4BDA-9719-57CA64A15A91}"/>
              </a:ext>
            </a:extLst>
          </p:cNvPr>
          <p:cNvSpPr>
            <a:spLocks noGrp="1"/>
          </p:cNvSpPr>
          <p:nvPr/>
        </p:nvSpPr>
        <p:spPr>
          <a:xfrm>
            <a:off x="4933950" y="2486025"/>
            <a:ext cx="2324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Action mapping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8E7FE7D-4429-46A8-82F7-AC510E22DB35}"/>
              </a:ext>
            </a:extLst>
          </p:cNvPr>
          <p:cNvSpPr>
            <a:spLocks noGrp="1"/>
          </p:cNvSpPr>
          <p:nvPr/>
        </p:nvSpPr>
        <p:spPr>
          <a:xfrm>
            <a:off x="4933950" y="2838450"/>
            <a:ext cx="2324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Interact / Build / Rotate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59A95AE-7659-4251-B394-3E03F681FE61}"/>
              </a:ext>
            </a:extLst>
          </p:cNvPr>
          <p:cNvSpPr>
            <a:spLocks noGrp="1"/>
          </p:cNvSpPr>
          <p:nvPr/>
        </p:nvSpPr>
        <p:spPr>
          <a:xfrm>
            <a:off x="8858250" y="2343150"/>
            <a:ext cx="26479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D08B031-5AB5-4E7F-BCD9-5C0C44D8E963}"/>
              </a:ext>
            </a:extLst>
          </p:cNvPr>
          <p:cNvSpPr>
            <a:spLocks noGrp="1"/>
          </p:cNvSpPr>
          <p:nvPr/>
        </p:nvSpPr>
        <p:spPr>
          <a:xfrm>
            <a:off x="9029700" y="2486025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Gameplay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2DEC21-A061-4748-A29C-B53033B3BDFC}"/>
              </a:ext>
            </a:extLst>
          </p:cNvPr>
          <p:cNvSpPr>
            <a:spLocks noGrp="1"/>
          </p:cNvSpPr>
          <p:nvPr/>
        </p:nvSpPr>
        <p:spPr>
          <a:xfrm>
            <a:off x="9029700" y="283845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アクション名で判定</a:t>
            </a:r>
          </a:p>
        </p:txBody>
      </p:sp>
      <p:cxnSp>
        <p:nvCxnSpPr>
          <p:cNvPr id="91" name="直線矢印コネクタ 90"/>
          <p:cNvCxnSpPr>
            <a:stCxn id="5" idx="3"/>
            <a:endCxn id="8" idx="1"/>
          </p:cNvCxnSpPr>
          <p:nvPr/>
        </p:nvCxnSpPr>
        <p:spPr>
          <a:xfrm>
            <a:off x="3333750" y="2914650"/>
            <a:ext cx="14287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92" name="直線矢印コネクタ 91"/>
          <p:cNvCxnSpPr>
            <a:stCxn id="8" idx="3"/>
            <a:endCxn id="11" idx="1"/>
          </p:cNvCxnSpPr>
          <p:nvPr/>
        </p:nvCxnSpPr>
        <p:spPr>
          <a:xfrm>
            <a:off x="7429500" y="2914650"/>
            <a:ext cx="14287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  <a:tailEnd type="triangle" w="med" len="med"/>
          </a:ln>
        </p:spPr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C67AC7F-A6FE-4FA1-B066-8F8D77420208}"/>
              </a:ext>
            </a:extLst>
          </p:cNvPr>
          <p:cNvSpPr>
            <a:spLocks noGrp="1"/>
          </p:cNvSpPr>
          <p:nvPr/>
        </p:nvSpPr>
        <p:spPr>
          <a:xfrm>
            <a:off x="1333500" y="44005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入力デバイスとゲーム処理を分離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930A40E-CA2E-4C35-939E-FB477689B90A}"/>
              </a:ext>
            </a:extLst>
          </p:cNvPr>
          <p:cNvSpPr>
            <a:spLocks noGrp="1"/>
          </p:cNvSpPr>
          <p:nvPr/>
        </p:nvSpPr>
        <p:spPr>
          <a:xfrm>
            <a:off x="1333500" y="49720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キーバインド変更や複数デバイス対応を、利用側の処理から切り離せる</a:t>
            </a:r>
          </a:p>
        </p:txBody>
      </p:sp>
    </p:spTree>
    <p:extLst>
      <p:ext uri="{BB962C8B-B14F-4D97-AF65-F5344CB8AC3E}">
        <p14:creationId xmlns:p14="http://schemas.microsoft.com/office/powerpoint/2010/main" val="102218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3234935-ACA0-4393-B96D-6682B1204275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UI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128FF9C-B340-4658-918F-29C51EEB140A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表示状態とUI階層を使って、入力対象を絞り込む</a:t>
            </a:r>
          </a:p>
        </p:txBody>
      </p:sp>
      <p:sp>
        <p:nvSpPr>
          <p:cNvPr id="3" name="直線コネクタ 2">
            <a:extLst>
              <a:ext uri="{FF2B5EF4-FFF2-40B4-BE49-F238E27FC236}">
                <a16:creationId xmlns:a16="http://schemas.microsoft.com/office/drawing/2014/main" id="{8C817034-B0B3-4724-A022-919A6C452D59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6DE9D0B-561C-498F-B499-90CF3B95433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ED236D9-4D0F-482F-BC1E-73095E970A40}"/>
              </a:ext>
            </a:extLst>
          </p:cNvPr>
          <p:cNvSpPr>
            <a:spLocks noGrp="1"/>
          </p:cNvSpPr>
          <p:nvPr/>
        </p:nvSpPr>
        <p:spPr>
          <a:xfrm>
            <a:off x="647700" y="2133600"/>
            <a:ext cx="2857500" cy="1066800"/>
          </a:xfrm>
          <a:prstGeom prst="roundRect">
            <a:avLst>
              <a:gd name="adj" fmla="val 10714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4E52D49-860F-4DD1-9DF4-5AFAF59DF434}"/>
              </a:ext>
            </a:extLst>
          </p:cNvPr>
          <p:cNvSpPr>
            <a:spLocks noGrp="1"/>
          </p:cNvSpPr>
          <p:nvPr/>
        </p:nvSpPr>
        <p:spPr>
          <a:xfrm>
            <a:off x="819150" y="2276475"/>
            <a:ext cx="2514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650" b="1" dirty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Player</a:t>
            </a:r>
            <a:r>
              <a:rPr sz="1650" b="1" dirty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 State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53B278D-296E-4DA6-A088-BF99A750331F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2514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状態とPanelをテーブルで対応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6FC3324-65CE-4AE8-AD5B-31E5DA923B68}"/>
              </a:ext>
            </a:extLst>
          </p:cNvPr>
          <p:cNvSpPr>
            <a:spLocks noGrp="1"/>
          </p:cNvSpPr>
          <p:nvPr/>
        </p:nvSpPr>
        <p:spPr>
          <a:xfrm>
            <a:off x="4572000" y="2133600"/>
            <a:ext cx="3048000" cy="1066800"/>
          </a:xfrm>
          <a:prstGeom prst="roundRect">
            <a:avLst>
              <a:gd name="adj" fmla="val 10714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2107709-7197-4B5B-AA65-D028ABDA72E7}"/>
              </a:ext>
            </a:extLst>
          </p:cNvPr>
          <p:cNvSpPr>
            <a:spLocks noGrp="1"/>
          </p:cNvSpPr>
          <p:nvPr/>
        </p:nvSpPr>
        <p:spPr>
          <a:xfrm>
            <a:off x="4743450" y="2276475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 dirty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Visible Panel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CB453BB-A603-46E3-9E59-AF6F9275A597}"/>
              </a:ext>
            </a:extLst>
          </p:cNvPr>
          <p:cNvSpPr>
            <a:spLocks noGrp="1"/>
          </p:cNvSpPr>
          <p:nvPr/>
        </p:nvSpPr>
        <p:spPr>
          <a:xfrm>
            <a:off x="4743450" y="2628900"/>
            <a:ext cx="270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現在状態に対応するPanelのみ表示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4D8ABDC-49BD-4508-9C62-BC45FCEE3DAB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857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4700999-949E-41F6-A9D3-16B6A7FBE332}"/>
              </a:ext>
            </a:extLst>
          </p:cNvPr>
          <p:cNvSpPr>
            <a:spLocks noGrp="1"/>
          </p:cNvSpPr>
          <p:nvPr/>
        </p:nvSpPr>
        <p:spPr>
          <a:xfrm>
            <a:off x="8858250" y="2276475"/>
            <a:ext cx="2514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 dirty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Child UI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9611F94-8370-47AB-B963-E863A6C92D78}"/>
              </a:ext>
            </a:extLst>
          </p:cNvPr>
          <p:cNvSpPr>
            <a:spLocks noGrp="1"/>
          </p:cNvSpPr>
          <p:nvPr/>
        </p:nvSpPr>
        <p:spPr>
          <a:xfrm>
            <a:off x="8858250" y="2628900"/>
            <a:ext cx="2514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親から子へヒット判定を連鎖</a:t>
            </a:r>
          </a:p>
        </p:txBody>
      </p:sp>
      <p:cxnSp>
        <p:nvCxnSpPr>
          <p:cNvPr id="92" name="直線矢印コネクタ 91"/>
          <p:cNvCxnSpPr>
            <a:stCxn id="5" idx="3"/>
            <a:endCxn id="8" idx="1"/>
          </p:cNvCxnSpPr>
          <p:nvPr/>
        </p:nvCxnSpPr>
        <p:spPr>
          <a:xfrm>
            <a:off x="3505200" y="2667000"/>
            <a:ext cx="10668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93" name="直線矢印コネクタ 92"/>
          <p:cNvCxnSpPr>
            <a:stCxn id="8" idx="3"/>
            <a:endCxn id="11" idx="1"/>
          </p:cNvCxnSpPr>
          <p:nvPr/>
        </p:nvCxnSpPr>
        <p:spPr>
          <a:xfrm>
            <a:off x="7620000" y="2667000"/>
            <a:ext cx="10668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  <a:tailEnd type="triangle" w="med" len="med"/>
          </a:ln>
        </p:spPr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95EFD7A-6531-4C0C-92AC-498C4C70E650}"/>
              </a:ext>
            </a:extLst>
          </p:cNvPr>
          <p:cNvSpPr>
            <a:spLocks noGrp="1"/>
          </p:cNvSpPr>
          <p:nvPr/>
        </p:nvSpPr>
        <p:spPr>
          <a:xfrm>
            <a:off x="1695450" y="4095750"/>
            <a:ext cx="8801100" cy="895350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BB639C9-D6C8-457B-8F51-1292471A7B95}"/>
              </a:ext>
            </a:extLst>
          </p:cNvPr>
          <p:cNvSpPr>
            <a:spLocks noGrp="1"/>
          </p:cNvSpPr>
          <p:nvPr/>
        </p:nvSpPr>
        <p:spPr>
          <a:xfrm>
            <a:off x="1962150" y="4314825"/>
            <a:ext cx="826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 dirty="0" err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非表示UIはヒット判定しない</a:t>
            </a:r>
            <a:endParaRPr sz="2025" b="1" dirty="0">
              <a:solidFill>
                <a:srgbClr val="111111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1037BF7-56DB-4AE2-A158-44450EACFB88}"/>
              </a:ext>
            </a:extLst>
          </p:cNvPr>
          <p:cNvSpPr>
            <a:spLocks noGrp="1"/>
          </p:cNvSpPr>
          <p:nvPr/>
        </p:nvSpPr>
        <p:spPr>
          <a:xfrm>
            <a:off x="2343150" y="5334000"/>
            <a:ext cx="7505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575" b="0" dirty="0" err="1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親UI要素が子UI要素を階層的に所有</a:t>
            </a:r>
            <a:endParaRPr sz="1575" b="0" dirty="0">
              <a:solidFill>
                <a:srgbClr val="5D6470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57664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5E43811-BB91-43A9-9346-BA47F6D1272C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CAMERA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76032D6-A9B9-4E18-98CF-420E8C88BBB0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現在値を目標値へ指数平滑し、急停止感を抑える</a:t>
            </a:r>
          </a:p>
        </p:txBody>
      </p:sp>
      <p:sp>
        <p:nvSpPr>
          <p:cNvPr id="3" name="直線コネクタ 2">
            <a:extLst>
              <a:ext uri="{FF2B5EF4-FFF2-40B4-BE49-F238E27FC236}">
                <a16:creationId xmlns:a16="http://schemas.microsoft.com/office/drawing/2014/main" id="{F8A7A978-B959-4C08-BC29-D3AACBF8FD11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B901881-AE46-402A-80E0-B8E0516AC803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7A64816-C70B-4C8E-9612-4D5F714C6F7B}"/>
              </a:ext>
            </a:extLst>
          </p:cNvPr>
          <p:cNvSpPr>
            <a:spLocks noGrp="1"/>
          </p:cNvSpPr>
          <p:nvPr/>
        </p:nvSpPr>
        <p:spPr>
          <a:xfrm>
            <a:off x="838200" y="22764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現在値</a:t>
            </a:r>
          </a:p>
        </p:txBody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8976CE38-590F-4E01-9871-9B9413EC171B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9620250" cy="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直線コネクタ 6">
            <a:extLst>
              <a:ext uri="{FF2B5EF4-FFF2-40B4-BE49-F238E27FC236}">
                <a16:creationId xmlns:a16="http://schemas.microsoft.com/office/drawing/2014/main" id="{2CDE9CD6-4089-4B7E-A6B6-CE6997F3E5A6}"/>
              </a:ext>
            </a:extLst>
          </p:cNvPr>
          <p:cNvSpPr>
            <a:spLocks noGrp="1"/>
          </p:cNvSpPr>
          <p:nvPr/>
        </p:nvSpPr>
        <p:spPr>
          <a:xfrm flipV="1">
            <a:off x="1143000" y="3438525"/>
            <a:ext cx="1428750" cy="657225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直線コネクタ 7">
            <a:extLst>
              <a:ext uri="{FF2B5EF4-FFF2-40B4-BE49-F238E27FC236}">
                <a16:creationId xmlns:a16="http://schemas.microsoft.com/office/drawing/2014/main" id="{A08955AA-DC99-4CA0-92E0-3EEBC0364F35}"/>
              </a:ext>
            </a:extLst>
          </p:cNvPr>
          <p:cNvSpPr>
            <a:spLocks noGrp="1"/>
          </p:cNvSpPr>
          <p:nvPr/>
        </p:nvSpPr>
        <p:spPr>
          <a:xfrm flipV="1">
            <a:off x="2571750" y="3000375"/>
            <a:ext cx="1524000" cy="438150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直線コネクタ 8">
            <a:extLst>
              <a:ext uri="{FF2B5EF4-FFF2-40B4-BE49-F238E27FC236}">
                <a16:creationId xmlns:a16="http://schemas.microsoft.com/office/drawing/2014/main" id="{8A64BFFA-A6AA-4CD4-B435-22EF7AEF14A2}"/>
              </a:ext>
            </a:extLst>
          </p:cNvPr>
          <p:cNvSpPr>
            <a:spLocks noGrp="1"/>
          </p:cNvSpPr>
          <p:nvPr/>
        </p:nvSpPr>
        <p:spPr>
          <a:xfrm flipV="1">
            <a:off x="4095750" y="2724150"/>
            <a:ext cx="1619250" cy="276225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直線コネクタ 9">
            <a:extLst>
              <a:ext uri="{FF2B5EF4-FFF2-40B4-BE49-F238E27FC236}">
                <a16:creationId xmlns:a16="http://schemas.microsoft.com/office/drawing/2014/main" id="{049D914B-9D2D-4378-93D1-6BFF6A8E82A3}"/>
              </a:ext>
            </a:extLst>
          </p:cNvPr>
          <p:cNvSpPr>
            <a:spLocks noGrp="1"/>
          </p:cNvSpPr>
          <p:nvPr/>
        </p:nvSpPr>
        <p:spPr>
          <a:xfrm flipV="1">
            <a:off x="5715000" y="2552700"/>
            <a:ext cx="1714500" cy="171450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67D7E251-5C23-436B-AC04-FA89AEC15F8C}"/>
              </a:ext>
            </a:extLst>
          </p:cNvPr>
          <p:cNvSpPr>
            <a:spLocks noGrp="1"/>
          </p:cNvSpPr>
          <p:nvPr/>
        </p:nvSpPr>
        <p:spPr>
          <a:xfrm flipV="1">
            <a:off x="7429500" y="2447925"/>
            <a:ext cx="1714500" cy="104775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直線コネクタ 11">
            <a:extLst>
              <a:ext uri="{FF2B5EF4-FFF2-40B4-BE49-F238E27FC236}">
                <a16:creationId xmlns:a16="http://schemas.microsoft.com/office/drawing/2014/main" id="{47EA3F52-F45E-4CBB-B6DE-AE861D64155F}"/>
              </a:ext>
            </a:extLst>
          </p:cNvPr>
          <p:cNvSpPr>
            <a:spLocks noGrp="1"/>
          </p:cNvSpPr>
          <p:nvPr/>
        </p:nvSpPr>
        <p:spPr>
          <a:xfrm flipV="1">
            <a:off x="9144000" y="2400300"/>
            <a:ext cx="1333500" cy="47625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91D4BCB2-C8AF-4AED-879E-1156AC3959A2}"/>
              </a:ext>
            </a:extLst>
          </p:cNvPr>
          <p:cNvSpPr>
            <a:spLocks noGrp="1"/>
          </p:cNvSpPr>
          <p:nvPr/>
        </p:nvSpPr>
        <p:spPr>
          <a:xfrm>
            <a:off x="952500" y="2352675"/>
            <a:ext cx="9620250" cy="0"/>
          </a:xfrm>
          <a:prstGeom prst="line">
            <a:avLst/>
          </a:prstGeom>
          <a:noFill/>
          <a:ln w="19050">
            <a:solidFill>
              <a:srgbClr val="17233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978017F-6B0B-4EDB-9282-0D6D0ADC4AC5}"/>
              </a:ext>
            </a:extLst>
          </p:cNvPr>
          <p:cNvSpPr>
            <a:spLocks noGrp="1"/>
          </p:cNvSpPr>
          <p:nvPr/>
        </p:nvSpPr>
        <p:spPr>
          <a:xfrm>
            <a:off x="9525000" y="197167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目標値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4BFF4F6-D3C6-4605-AFAD-8008C221EAC9}"/>
              </a:ext>
            </a:extLst>
          </p:cNvPr>
          <p:cNvSpPr>
            <a:spLocks noGrp="1"/>
          </p:cNvSpPr>
          <p:nvPr/>
        </p:nvSpPr>
        <p:spPr>
          <a:xfrm>
            <a:off x="1657350" y="4876800"/>
            <a:ext cx="887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差が大きいときは大きく動き、近づくほど移動量が小さくなる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DE99FB1-1AD0-46AA-8678-18633A519CF4}"/>
              </a:ext>
            </a:extLst>
          </p:cNvPr>
          <p:cNvSpPr>
            <a:spLocks noGrp="1"/>
          </p:cNvSpPr>
          <p:nvPr/>
        </p:nvSpPr>
        <p:spPr>
          <a:xfrm>
            <a:off x="2609850" y="5467350"/>
            <a:ext cx="697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目標が変化し続けても滑らかに追従</a:t>
            </a:r>
          </a:p>
        </p:txBody>
      </p:sp>
    </p:spTree>
    <p:extLst>
      <p:ext uri="{BB962C8B-B14F-4D97-AF65-F5344CB8AC3E}">
        <p14:creationId xmlns:p14="http://schemas.microsoft.com/office/powerpoint/2010/main" val="353261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F82751C-B6D6-4E22-8A92-C0BE8865D06F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GAMERESOURCE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4FA41F8-5E5A-4BCF-91EA-EC7534F65AA4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ロード・取得・解放の責務をGameResourceへ集約する</a:t>
            </a:r>
          </a:p>
        </p:txBody>
      </p:sp>
      <p:sp>
        <p:nvSpPr>
          <p:cNvPr id="3" name="直線コネクタ 2">
            <a:extLst>
              <a:ext uri="{FF2B5EF4-FFF2-40B4-BE49-F238E27FC236}">
                <a16:creationId xmlns:a16="http://schemas.microsoft.com/office/drawing/2014/main" id="{C4CA57F7-787B-45D0-ACDD-170133D61B08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AD2D0AE-050B-43B9-A272-162E46949025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E81C449-1498-482C-B816-31EF26C17A00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25146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1C78E85-473E-47DA-8F72-AEFA2D327387}"/>
              </a:ext>
            </a:extLst>
          </p:cNvPr>
          <p:cNvSpPr>
            <a:spLocks noGrp="1"/>
          </p:cNvSpPr>
          <p:nvPr/>
        </p:nvSpPr>
        <p:spPr>
          <a:xfrm>
            <a:off x="838200" y="2638425"/>
            <a:ext cx="2171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開始時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1AF890B-892D-477B-AAC3-AA53CA012CD2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2171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必要リソースを一括ロード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9D2C718-5E33-4D9C-9A50-76C7925B0130}"/>
              </a:ext>
            </a:extLst>
          </p:cNvPr>
          <p:cNvSpPr>
            <a:spLocks noGrp="1"/>
          </p:cNvSpPr>
          <p:nvPr/>
        </p:nvSpPr>
        <p:spPr>
          <a:xfrm>
            <a:off x="3905250" y="2495550"/>
            <a:ext cx="2857500" cy="1123950"/>
          </a:xfrm>
          <a:prstGeom prst="roundRect">
            <a:avLst>
              <a:gd name="adj" fmla="val 10169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A087581-87D9-42ED-A690-7D11F72E8023}"/>
              </a:ext>
            </a:extLst>
          </p:cNvPr>
          <p:cNvSpPr>
            <a:spLocks noGrp="1"/>
          </p:cNvSpPr>
          <p:nvPr/>
        </p:nvSpPr>
        <p:spPr>
          <a:xfrm>
            <a:off x="4076700" y="2638425"/>
            <a:ext cx="2514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管理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4849CF-AE4B-478C-98C9-636438E9EBFE}"/>
              </a:ext>
            </a:extLst>
          </p:cNvPr>
          <p:cNvSpPr>
            <a:spLocks noGrp="1"/>
          </p:cNvSpPr>
          <p:nvPr/>
        </p:nvSpPr>
        <p:spPr>
          <a:xfrm>
            <a:off x="4076700" y="2990850"/>
            <a:ext cx="2514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enum ID ↔ DxLib handle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24653EC-87B5-4569-BE4F-CB3B9BEC4B19}"/>
              </a:ext>
            </a:extLst>
          </p:cNvPr>
          <p:cNvSpPr>
            <a:spLocks noGrp="1"/>
          </p:cNvSpPr>
          <p:nvPr/>
        </p:nvSpPr>
        <p:spPr>
          <a:xfrm>
            <a:off x="7486650" y="2495550"/>
            <a:ext cx="28575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F6EDA23-8348-4C39-AD01-A27E79F195FC}"/>
              </a:ext>
            </a:extLst>
          </p:cNvPr>
          <p:cNvSpPr>
            <a:spLocks noGrp="1"/>
          </p:cNvSpPr>
          <p:nvPr/>
        </p:nvSpPr>
        <p:spPr>
          <a:xfrm>
            <a:off x="7658100" y="2638425"/>
            <a:ext cx="2514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利用時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A2E87D3-EACB-4C17-A90E-5EB872BC5837}"/>
              </a:ext>
            </a:extLst>
          </p:cNvPr>
          <p:cNvSpPr>
            <a:spLocks noGrp="1"/>
          </p:cNvSpPr>
          <p:nvPr/>
        </p:nvSpPr>
        <p:spPr>
          <a:xfrm>
            <a:off x="7658100" y="2990850"/>
            <a:ext cx="2514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ハンドルではなくIDで取得</a:t>
            </a:r>
          </a:p>
        </p:txBody>
      </p:sp>
      <p:cxnSp>
        <p:nvCxnSpPr>
          <p:cNvPr id="93" name="直線矢印コネクタ 92"/>
          <p:cNvCxnSpPr>
            <a:stCxn id="5" idx="3"/>
            <a:endCxn id="8" idx="1"/>
          </p:cNvCxnSpPr>
          <p:nvPr/>
        </p:nvCxnSpPr>
        <p:spPr>
          <a:xfrm>
            <a:off x="3181350" y="3057525"/>
            <a:ext cx="7239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  <a:tailEnd type="triangle" w="med" len="med"/>
          </a:ln>
        </p:spPr>
      </p:cxnSp>
      <p:cxnSp>
        <p:nvCxnSpPr>
          <p:cNvPr id="94" name="直線矢印コネクタ 93"/>
          <p:cNvCxnSpPr>
            <a:stCxn id="8" idx="3"/>
            <a:endCxn id="11" idx="1"/>
          </p:cNvCxnSpPr>
          <p:nvPr/>
        </p:nvCxnSpPr>
        <p:spPr>
          <a:xfrm>
            <a:off x="6762750" y="3057525"/>
            <a:ext cx="7239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  <a:tailEnd type="triangle" w="med" len="med"/>
          </a:ln>
        </p:spPr>
      </p:cxnSp>
      <p:sp>
        <p:nvSpPr>
          <p:cNvPr id="16" name="矢印: 右 15">
            <a:extLst>
              <a:ext uri="{FF2B5EF4-FFF2-40B4-BE49-F238E27FC236}">
                <a16:creationId xmlns:a16="http://schemas.microsoft.com/office/drawing/2014/main" id="{2984AC22-004F-4F57-9371-74F3FBE4D37B}"/>
              </a:ext>
            </a:extLst>
          </p:cNvPr>
          <p:cNvSpPr>
            <a:spLocks noGrp="1"/>
          </p:cNvSpPr>
          <p:nvPr/>
        </p:nvSpPr>
        <p:spPr>
          <a:xfrm>
            <a:off x="10572750" y="2895600"/>
            <a:ext cx="533400" cy="266700"/>
          </a:xfrm>
          <a:prstGeom prst="rightArrow">
            <a:avLst/>
          </a:prstGeom>
          <a:solidFill>
            <a:srgbClr val="17233A"/>
          </a:solidFill>
          <a:ln w="0">
            <a:solidFill>
              <a:srgbClr val="1723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A422621-4C04-4E5C-9602-9DF9D5B0C1FF}"/>
              </a:ext>
            </a:extLst>
          </p:cNvPr>
          <p:cNvSpPr>
            <a:spLocks noGrp="1"/>
          </p:cNvSpPr>
          <p:nvPr/>
        </p:nvSpPr>
        <p:spPr>
          <a:xfrm>
            <a:off x="11106150" y="2667000"/>
            <a:ext cx="72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終了時</a:t>
            </a:r>
          </a:p>
          <a:p>
            <a:pPr algn="ctr">
              <a:buNone/>
              <a:defRPr sz="12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一括解放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4895492-1038-4112-991B-1E62F3CEA75B}"/>
              </a:ext>
            </a:extLst>
          </p:cNvPr>
          <p:cNvSpPr>
            <a:spLocks noGrp="1"/>
          </p:cNvSpPr>
          <p:nvPr/>
        </p:nvSpPr>
        <p:spPr>
          <a:xfrm>
            <a:off x="1562100" y="4495800"/>
            <a:ext cx="9067800" cy="838200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D05E433-417F-462A-9FC5-102A8AF3784A}"/>
              </a:ext>
            </a:extLst>
          </p:cNvPr>
          <p:cNvSpPr>
            <a:spLocks noGrp="1"/>
          </p:cNvSpPr>
          <p:nvPr/>
        </p:nvSpPr>
        <p:spPr>
          <a:xfrm>
            <a:off x="1828800" y="4724400"/>
            <a:ext cx="853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重複ロードを防ぎ、利用側からパスとハンドル管理を隠す</a:t>
            </a:r>
          </a:p>
        </p:txBody>
      </p:sp>
    </p:spTree>
    <p:extLst>
      <p:ext uri="{BB962C8B-B14F-4D97-AF65-F5344CB8AC3E}">
        <p14:creationId xmlns:p14="http://schemas.microsoft.com/office/powerpoint/2010/main" val="447291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1CDAED8-8DFC-4F34-BE2F-42DF167886B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354EB64-1D6E-4DEC-BFBA-5ED561A22D82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この作品の核は“ゲームを支える仕組み”の設計</a:t>
            </a:r>
          </a:p>
        </p:txBody>
      </p:sp>
      <p:sp>
        <p:nvSpPr>
          <p:cNvPr id="3" name="直線コネクタ 2">
            <a:extLst>
              <a:ext uri="{FF2B5EF4-FFF2-40B4-BE49-F238E27FC236}">
                <a16:creationId xmlns:a16="http://schemas.microsoft.com/office/drawing/2014/main" id="{D6BE2B2C-0E74-468C-A62D-89041F707C66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F4037A-85B5-49AC-92F3-66AF0109190E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6641B44-548F-4F74-8A4D-376B85E7B2CB}"/>
              </a:ext>
            </a:extLst>
          </p:cNvPr>
          <p:cNvSpPr>
            <a:spLocks noGrp="1"/>
          </p:cNvSpPr>
          <p:nvPr/>
        </p:nvSpPr>
        <p:spPr>
          <a:xfrm>
            <a:off x="647700" y="2133600"/>
            <a:ext cx="400050" cy="57150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6A85FFE-8732-495A-BD33-4CDABAC15F0B}"/>
              </a:ext>
            </a:extLst>
          </p:cNvPr>
          <p:cNvSpPr>
            <a:spLocks noGrp="1"/>
          </p:cNvSpPr>
          <p:nvPr/>
        </p:nvSpPr>
        <p:spPr>
          <a:xfrm>
            <a:off x="647700" y="257175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寿命を設計する</a:t>
            </a:r>
          </a:p>
        </p:txBody>
      </p:sp>
      <p:sp>
        <p:nvSpPr>
          <p:cNvPr id="7" name="直線コネクタ 6">
            <a:extLst>
              <a:ext uri="{FF2B5EF4-FFF2-40B4-BE49-F238E27FC236}">
                <a16:creationId xmlns:a16="http://schemas.microsoft.com/office/drawing/2014/main" id="{665CA681-13CE-4DE5-B41D-04F90AF4CD9B}"/>
              </a:ext>
            </a:extLst>
          </p:cNvPr>
          <p:cNvSpPr>
            <a:spLocks noGrp="1"/>
          </p:cNvSpPr>
          <p:nvPr/>
        </p:nvSpPr>
        <p:spPr>
          <a:xfrm>
            <a:off x="647700" y="3105150"/>
            <a:ext cx="32385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30572F3-1981-4D13-9E8D-AFFDCB13ECEF}"/>
              </a:ext>
            </a:extLst>
          </p:cNvPr>
          <p:cNvSpPr>
            <a:spLocks noGrp="1"/>
          </p:cNvSpPr>
          <p:nvPr/>
        </p:nvSpPr>
        <p:spPr>
          <a:xfrm>
            <a:off x="647700" y="3362325"/>
            <a:ext cx="3238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shared_ptr / weak_ptr と遅延変更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0A135C4-0CEA-49ED-92DC-B4CD6A70DB24}"/>
              </a:ext>
            </a:extLst>
          </p:cNvPr>
          <p:cNvSpPr>
            <a:spLocks noGrp="1"/>
          </p:cNvSpPr>
          <p:nvPr/>
        </p:nvSpPr>
        <p:spPr>
          <a:xfrm>
            <a:off x="4495800" y="2133600"/>
            <a:ext cx="400050" cy="57150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881991D-78A1-4D1E-B4F5-64661ABFFFCF}"/>
              </a:ext>
            </a:extLst>
          </p:cNvPr>
          <p:cNvSpPr>
            <a:spLocks noGrp="1"/>
          </p:cNvSpPr>
          <p:nvPr/>
        </p:nvSpPr>
        <p:spPr>
          <a:xfrm>
            <a:off x="4495800" y="257175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機能を組み合わせる</a:t>
            </a:r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780CE893-B868-4867-92BA-65914AD07F8A}"/>
              </a:ext>
            </a:extLst>
          </p:cNvPr>
          <p:cNvSpPr>
            <a:spLocks noGrp="1"/>
          </p:cNvSpPr>
          <p:nvPr/>
        </p:nvSpPr>
        <p:spPr>
          <a:xfrm>
            <a:off x="4495800" y="3105150"/>
            <a:ext cx="32385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AE03478-9AA3-493D-9E9F-507475249E36}"/>
              </a:ext>
            </a:extLst>
          </p:cNvPr>
          <p:cNvSpPr>
            <a:spLocks noGrp="1"/>
          </p:cNvSpPr>
          <p:nvPr/>
        </p:nvSpPr>
        <p:spPr>
          <a:xfrm>
            <a:off x="4495800" y="3362325"/>
            <a:ext cx="3238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Object–Component と工業System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E9CFB49-F5BE-4C3A-ACE0-50D54BDCAEFE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400050" cy="57150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D2BCC4A-08E8-4CDA-9BF4-1E0D47D713B5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利用側を分離する</a:t>
            </a:r>
          </a:p>
        </p:txBody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D684E763-4ED8-4E6E-B091-12ADF56CCDF7}"/>
              </a:ext>
            </a:extLst>
          </p:cNvPr>
          <p:cNvSpPr>
            <a:spLocks noGrp="1"/>
          </p:cNvSpPr>
          <p:nvPr/>
        </p:nvSpPr>
        <p:spPr>
          <a:xfrm>
            <a:off x="8343900" y="3105150"/>
            <a:ext cx="32385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BCD363D-B914-43C2-B86B-BB1A5F5DDE16}"/>
              </a:ext>
            </a:extLst>
          </p:cNvPr>
          <p:cNvSpPr>
            <a:spLocks noGrp="1"/>
          </p:cNvSpPr>
          <p:nvPr/>
        </p:nvSpPr>
        <p:spPr>
          <a:xfrm>
            <a:off x="8343900" y="3362325"/>
            <a:ext cx="3238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470"/>
                </a:solidFill>
                <a:latin typeface="Yu Gothic"/>
                <a:ea typeface="Yu Gothic"/>
                <a:cs typeface="Yu Gothic"/>
              </a:rPr>
              <a:t>Event / Input / UI / Resource管理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1268456-4613-43E9-A6F5-A39FEDD456BB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10934700" cy="876300"/>
          </a:xfrm>
          <a:prstGeom prst="rect">
            <a:avLst/>
          </a:prstGeom>
          <a:solidFill>
            <a:srgbClr val="17233A"/>
          </a:solidFill>
          <a:ln w="9525">
            <a:solidFill>
              <a:srgbClr val="1723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ADA4ACB-2483-4FCD-A345-DF4AAF523D93}"/>
              </a:ext>
            </a:extLst>
          </p:cNvPr>
          <p:cNvSpPr>
            <a:spLocks noGrp="1"/>
          </p:cNvSpPr>
          <p:nvPr/>
        </p:nvSpPr>
        <p:spPr>
          <a:xfrm>
            <a:off x="914400" y="5124450"/>
            <a:ext cx="1036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DxLib上に、C++の所有権とRAIIを活かしたゲームランタイム基盤を構築</a:t>
            </a:r>
          </a:p>
        </p:txBody>
      </p:sp>
    </p:spTree>
    <p:extLst>
      <p:ext uri="{BB962C8B-B14F-4D97-AF65-F5344CB8AC3E}">
        <p14:creationId xmlns:p14="http://schemas.microsoft.com/office/powerpoint/2010/main" val="3288684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DocSecurity>0</DocSecurity>
  <PresentationFormat>ワイド画面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Yu Gothic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樋口　晴之</cp:lastModifiedBy>
  <cp:revision>1</cp:revision>
  <dcterms:created xsi:type="dcterms:W3CDTF">2026-09-02T15:15:50Z</dcterms:created>
  <dcterms:modified xsi:type="dcterms:W3CDTF">2026-09-02T15:23:00Z</dcterms:modified>
</cp:coreProperties>
</file>